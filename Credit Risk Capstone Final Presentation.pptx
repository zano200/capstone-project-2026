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71" r:id="rId2"/>
    <p:sldId id="272" r:id="rId3"/>
    <p:sldId id="274" r:id="rId4"/>
    <p:sldId id="273" r:id="rId5"/>
    <p:sldId id="275" r:id="rId6"/>
    <p:sldId id="276" r:id="rId7"/>
    <p:sldId id="290" r:id="rId8"/>
    <p:sldId id="277" r:id="rId9"/>
    <p:sldId id="279" r:id="rId10"/>
    <p:sldId id="281" r:id="rId11"/>
    <p:sldId id="282" r:id="rId12"/>
    <p:sldId id="283" r:id="rId13"/>
    <p:sldId id="284" r:id="rId14"/>
    <p:sldId id="285" r:id="rId15"/>
    <p:sldId id="287" r:id="rId16"/>
    <p:sldId id="288" r:id="rId17"/>
    <p:sldId id="289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7467" autoAdjust="0"/>
  </p:normalViewPr>
  <p:slideViewPr>
    <p:cSldViewPr>
      <p:cViewPr varScale="1">
        <p:scale>
          <a:sx n="47" d="100"/>
          <a:sy n="47" d="100"/>
        </p:scale>
        <p:origin x="211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dPt>
            <c:idx val="0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1-36C7-4337-AE9E-12811427D005}"/>
              </c:ext>
            </c:extLst>
          </c:dPt>
          <c:dPt>
            <c:idx val="1"/>
            <c:bubble3D val="0"/>
            <c:spPr>
              <a:solidFill>
                <a:srgbClr val="E76F51"/>
              </a:solidFill>
            </c:spPr>
            <c:extLst>
              <c:ext xmlns:c16="http://schemas.microsoft.com/office/drawing/2014/chart" uri="{C3380CC4-5D6E-409C-BE32-E72D297353CC}">
                <c16:uniqueId val="{00000003-36C7-4337-AE9E-12811427D00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default</c:v>
                </c:pt>
                <c:pt idx="1">
                  <c:v>Default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88.39</c:v>
                </c:pt>
                <c:pt idx="1">
                  <c:v>11.61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C7-4337-AE9E-12811427D0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16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IV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76F51"/>
              </a:solidFill>
            </c:spPr>
            <c:extLst>
              <c:ext xmlns:c16="http://schemas.microsoft.com/office/drawing/2014/chart" uri="{C3380CC4-5D6E-409C-BE32-E72D297353CC}">
                <c16:uniqueId val="{00000001-171C-4012-8965-3730D6D52C3F}"/>
              </c:ext>
            </c:extLst>
          </c:dPt>
          <c:dPt>
            <c:idx val="1"/>
            <c:invertIfNegative val="1"/>
            <c:bubble3D val="0"/>
            <c:spPr>
              <a:solidFill>
                <a:srgbClr val="8699C8"/>
              </a:solidFill>
            </c:spPr>
            <c:extLst>
              <c:ext xmlns:c16="http://schemas.microsoft.com/office/drawing/2014/chart" uri="{C3380CC4-5D6E-409C-BE32-E72D297353CC}">
                <c16:uniqueId val="{00000003-171C-4012-8965-3730D6D52C3F}"/>
              </c:ext>
            </c:extLst>
          </c:dPt>
          <c:dPt>
            <c:idx val="2"/>
            <c:invertIfNegative val="1"/>
            <c:bubble3D val="0"/>
            <c:spPr>
              <a:solidFill>
                <a:srgbClr val="8699C8"/>
              </a:solidFill>
            </c:spPr>
            <c:extLst>
              <c:ext xmlns:c16="http://schemas.microsoft.com/office/drawing/2014/chart" uri="{C3380CC4-5D6E-409C-BE32-E72D297353CC}">
                <c16:uniqueId val="{00000005-171C-4012-8965-3730D6D52C3F}"/>
              </c:ext>
            </c:extLst>
          </c:dPt>
          <c:dPt>
            <c:idx val="3"/>
            <c:invertIfNegative val="1"/>
            <c:bubble3D val="0"/>
            <c:spPr>
              <a:solidFill>
                <a:srgbClr val="E9C46A"/>
              </a:solidFill>
            </c:spPr>
            <c:extLst>
              <c:ext xmlns:c16="http://schemas.microsoft.com/office/drawing/2014/chart" uri="{C3380CC4-5D6E-409C-BE32-E72D297353CC}">
                <c16:uniqueId val="{00000007-171C-4012-8965-3730D6D52C3F}"/>
              </c:ext>
            </c:extLst>
          </c:dPt>
          <c:dPt>
            <c:idx val="4"/>
            <c:invertIfNegative val="1"/>
            <c:bubble3D val="0"/>
            <c:spPr>
              <a:solidFill>
                <a:srgbClr val="E9C46A"/>
              </a:solidFill>
            </c:spPr>
            <c:extLst>
              <c:ext xmlns:c16="http://schemas.microsoft.com/office/drawing/2014/chart" uri="{C3380CC4-5D6E-409C-BE32-E72D297353CC}">
                <c16:uniqueId val="{00000009-171C-4012-8965-3730D6D52C3F}"/>
              </c:ext>
            </c:extLst>
          </c:dPt>
          <c:dPt>
            <c:idx val="5"/>
            <c:invertIfNegative val="1"/>
            <c:bubble3D val="0"/>
            <c:spPr>
              <a:solidFill>
                <a:srgbClr val="8A93A3"/>
              </a:solidFill>
            </c:spPr>
            <c:extLst>
              <c:ext xmlns:c16="http://schemas.microsoft.com/office/drawing/2014/chart" uri="{C3380CC4-5D6E-409C-BE32-E72D297353CC}">
                <c16:uniqueId val="{0000000B-171C-4012-8965-3730D6D52C3F}"/>
              </c:ext>
            </c:extLst>
          </c:dPt>
          <c:dPt>
            <c:idx val="6"/>
            <c:invertIfNegative val="1"/>
            <c:bubble3D val="0"/>
            <c:spPr>
              <a:solidFill>
                <a:srgbClr val="8A93A3"/>
              </a:solidFill>
            </c:spPr>
            <c:extLst>
              <c:ext xmlns:c16="http://schemas.microsoft.com/office/drawing/2014/chart" uri="{C3380CC4-5D6E-409C-BE32-E72D297353CC}">
                <c16:uniqueId val="{0000000D-171C-4012-8965-3730D6D52C3F}"/>
              </c:ext>
            </c:extLst>
          </c:dPt>
          <c:dPt>
            <c:idx val="7"/>
            <c:invertIfNegative val="1"/>
            <c:bubble3D val="0"/>
            <c:spPr>
              <a:solidFill>
                <a:srgbClr val="8A93A3"/>
              </a:solidFill>
            </c:spPr>
            <c:extLst>
              <c:ext xmlns:c16="http://schemas.microsoft.com/office/drawing/2014/chart" uri="{C3380CC4-5D6E-409C-BE32-E72D297353CC}">
                <c16:uniqueId val="{0000000F-171C-4012-8965-3730D6D52C3F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Age</c:v>
                </c:pt>
                <c:pt idx="1">
                  <c:v>InterestRate</c:v>
                </c:pt>
                <c:pt idx="2">
                  <c:v>Income</c:v>
                </c:pt>
                <c:pt idx="3">
                  <c:v>MonthsEmployed</c:v>
                </c:pt>
                <c:pt idx="4">
                  <c:v>LoanAmount</c:v>
                </c:pt>
                <c:pt idx="5">
                  <c:v>EmploymentType</c:v>
                </c:pt>
                <c:pt idx="6">
                  <c:v>HasCoSigner</c:v>
                </c:pt>
                <c:pt idx="7">
                  <c:v>CreditScore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0.28499999999999998</c:v>
                </c:pt>
                <c:pt idx="1">
                  <c:v>0.17699999999999999</c:v>
                </c:pt>
                <c:pt idx="2">
                  <c:v>0.13400000000000001</c:v>
                </c:pt>
                <c:pt idx="3">
                  <c:v>9.4E-2</c:v>
                </c:pt>
                <c:pt idx="4">
                  <c:v>7.4999999999999997E-2</c:v>
                </c:pt>
                <c:pt idx="5">
                  <c:v>2.1000000000000001E-2</c:v>
                </c:pt>
                <c:pt idx="6">
                  <c:v>1.4E-2</c:v>
                </c:pt>
                <c:pt idx="7">
                  <c:v>1.2999999999999999E-2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71C-4012-8965-3730D6D52C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526692"/>
            </a:solidFill>
          </a:ln>
        </c:spPr>
        <c:txPr>
          <a:bodyPr/>
          <a:lstStyle/>
          <a:p>
            <a:pPr>
              <a:defRPr sz="1600">
                <a:solidFill>
                  <a:srgbClr val="B9C2D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34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600">
          <a:solidFill>
            <a:srgbClr val="B9C2D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+ L1</c:v>
                </c:pt>
              </c:strCache>
            </c:strRef>
          </c:tx>
          <c:spPr>
            <a:solidFill>
              <a:srgbClr val="8699C8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AUC</c:v>
                </c:pt>
                <c:pt idx="1">
                  <c:v>Recall</c:v>
                </c:pt>
                <c:pt idx="2">
                  <c:v>Precision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0.753</c:v>
                </c:pt>
                <c:pt idx="1">
                  <c:v>0.70099999999999996</c:v>
                </c:pt>
                <c:pt idx="2">
                  <c:v>0.22</c:v>
                </c:pt>
                <c:pt idx="3">
                  <c:v>0.33500000000000002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D52-4DA5-B7FC-238B7464C9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526692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AUC</c:v>
                </c:pt>
                <c:pt idx="1">
                  <c:v>Recall</c:v>
                </c:pt>
                <c:pt idx="2">
                  <c:v>Precision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0.755</c:v>
                </c:pt>
                <c:pt idx="1">
                  <c:v>0.65100000000000002</c:v>
                </c:pt>
                <c:pt idx="2">
                  <c:v>0.23799999999999999</c:v>
                </c:pt>
                <c:pt idx="3">
                  <c:v>0.34899999999999998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D52-4DA5-B7FC-238B7464C9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E76F51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AUC</c:v>
                </c:pt>
                <c:pt idx="1">
                  <c:v>Recall</c:v>
                </c:pt>
                <c:pt idx="2">
                  <c:v>Precision</c:v>
                </c:pt>
                <c:pt idx="3">
                  <c:v>F1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0.75800000000000001</c:v>
                </c:pt>
                <c:pt idx="1">
                  <c:v>0.69099999999999995</c:v>
                </c:pt>
                <c:pt idx="2">
                  <c:v>0.22600000000000001</c:v>
                </c:pt>
                <c:pt idx="3">
                  <c:v>0.34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D52-4DA5-B7FC-238B7464C9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526692"/>
            </a:solidFill>
          </a:ln>
        </c:spPr>
        <c:txPr>
          <a:bodyPr/>
          <a:lstStyle/>
          <a:p>
            <a:pPr>
              <a:defRPr sz="1600">
                <a:solidFill>
                  <a:srgbClr val="B9C2D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6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600">
          <a:solidFill>
            <a:srgbClr val="B9C2D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ZA" sz="2000" b="1">
                <a:solidFill>
                  <a:srgbClr val="FFFFFF"/>
                </a:solidFill>
                <a:latin typeface="Arial"/>
              </a:rPr>
              <a:t>Observed default rate by predicted band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default %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1-29B0-43A5-89CB-C2227873A8AF}"/>
              </c:ext>
            </c:extLst>
          </c:dPt>
          <c:dPt>
            <c:idx val="1"/>
            <c:invertIfNegative val="1"/>
            <c:bubble3D val="0"/>
            <c:spPr>
              <a:solidFill>
                <a:srgbClr val="E9C46A"/>
              </a:solidFill>
            </c:spPr>
            <c:extLst>
              <c:ext xmlns:c16="http://schemas.microsoft.com/office/drawing/2014/chart" uri="{C3380CC4-5D6E-409C-BE32-E72D297353CC}">
                <c16:uniqueId val="{00000003-29B0-43A5-89CB-C2227873A8AF}"/>
              </c:ext>
            </c:extLst>
          </c:dPt>
          <c:dPt>
            <c:idx val="2"/>
            <c:invertIfNegative val="1"/>
            <c:bubble3D val="0"/>
            <c:spPr>
              <a:solidFill>
                <a:srgbClr val="E76F51"/>
              </a:solidFill>
            </c:spPr>
            <c:extLst>
              <c:ext xmlns:c16="http://schemas.microsoft.com/office/drawing/2014/chart" uri="{C3380CC4-5D6E-409C-BE32-E72D297353CC}">
                <c16:uniqueId val="{00000005-29B0-43A5-89CB-C2227873A8A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(&lt;15%)</c:v>
                </c:pt>
                <c:pt idx="1">
                  <c:v>Medium (15-40%)</c:v>
                </c:pt>
                <c:pt idx="2">
                  <c:v>High (&gt;40%)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6.46</c:v>
                </c:pt>
                <c:pt idx="1">
                  <c:v>23.24</c:v>
                </c:pt>
                <c:pt idx="2">
                  <c:v>52.89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9B0-43A5-89CB-C2227873A8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526692"/>
            </a:solidFill>
          </a:ln>
        </c:spPr>
        <c:txPr>
          <a:bodyPr/>
          <a:lstStyle/>
          <a:p>
            <a:pPr>
              <a:defRPr sz="1600">
                <a:solidFill>
                  <a:srgbClr val="B9C2D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600">
          <a:solidFill>
            <a:srgbClr val="B9C2D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52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Every time a bank approves a loan, it is making a bet that the person will pay it back. If the bet is wrong, the bank loses money. </a:t>
            </a:r>
            <a:endParaRPr lang="en-ZA" dirty="0"/>
          </a:p>
          <a:p>
            <a:r>
              <a:rPr dirty="0"/>
              <a:t>But it can also go wrong the other way: if a bank refuses someone who would have repaid, it loses a customer and that person loses access to credit</a:t>
            </a:r>
            <a:r>
              <a:rPr lang="en-ZA" dirty="0"/>
              <a:t> and thus both errors are costly</a:t>
            </a:r>
            <a:endParaRPr dirty="0"/>
          </a:p>
          <a:p>
            <a:endParaRPr lang="en-ZA" dirty="0"/>
          </a:p>
          <a:p>
            <a:r>
              <a:rPr dirty="0"/>
              <a:t>This matters in South Africa.</a:t>
            </a:r>
            <a:endParaRPr lang="en-ZA" dirty="0"/>
          </a:p>
          <a:p>
            <a:r>
              <a:rPr dirty="0"/>
              <a:t>According to PwC, the four biggest banks recorded R27.1 billion in bad debt charges in the first half of 2024 alone.</a:t>
            </a:r>
          </a:p>
          <a:p>
            <a:endParaRPr lang="en-ZA" dirty="0"/>
          </a:p>
          <a:p>
            <a:r>
              <a:rPr dirty="0"/>
              <a:t>My dataset is the Kaggle Loan Default dataset with 255,347 loans</a:t>
            </a:r>
            <a:r>
              <a:rPr lang="en-ZA" dirty="0"/>
              <a:t> with</a:t>
            </a:r>
            <a:r>
              <a:rPr dirty="0"/>
              <a:t> </a:t>
            </a:r>
            <a:r>
              <a:rPr lang="en-ZA" dirty="0"/>
              <a:t>o</a:t>
            </a:r>
            <a:r>
              <a:rPr dirty="0" err="1"/>
              <a:t>nly</a:t>
            </a:r>
            <a:r>
              <a:rPr dirty="0"/>
              <a:t> 11.6% of them </a:t>
            </a:r>
            <a:r>
              <a:rPr lang="en-ZA" dirty="0"/>
              <a:t>ending in </a:t>
            </a:r>
            <a:r>
              <a:rPr dirty="0" err="1"/>
              <a:t>defaulte</a:t>
            </a:r>
            <a:r>
              <a:rPr dirty="0"/>
              <a:t> so it is imbalanced, and that becomes important later</a:t>
            </a:r>
            <a:r>
              <a:rPr lang="en-ZA" dirty="0"/>
              <a:t> so keep it in mind</a:t>
            </a:r>
            <a:endParaRPr dirty="0"/>
          </a:p>
          <a:p>
            <a:endParaRPr lang="en-ZA" dirty="0"/>
          </a:p>
          <a:p>
            <a:r>
              <a:rPr dirty="0"/>
              <a:t>My problem statement has three parts: </a:t>
            </a:r>
            <a:endParaRPr lang="en-ZA" dirty="0"/>
          </a:p>
          <a:p>
            <a:r>
              <a:rPr dirty="0"/>
              <a:t>1</a:t>
            </a:r>
            <a:r>
              <a:rPr lang="en-ZA" dirty="0"/>
              <a:t>.P</a:t>
            </a:r>
            <a:r>
              <a:rPr dirty="0" err="1"/>
              <a:t>redict</a:t>
            </a:r>
            <a:r>
              <a:rPr dirty="0"/>
              <a:t> default using only information known at application time</a:t>
            </a:r>
            <a:endParaRPr lang="en-ZA" dirty="0"/>
          </a:p>
          <a:p>
            <a:r>
              <a:rPr dirty="0"/>
              <a:t>2</a:t>
            </a:r>
            <a:r>
              <a:rPr lang="en-ZA" dirty="0"/>
              <a:t>.D</a:t>
            </a:r>
            <a:r>
              <a:rPr dirty="0"/>
              <a:t>o it without distorting the probabilities or the statistics, </a:t>
            </a:r>
            <a:r>
              <a:rPr lang="en-ZA" dirty="0"/>
              <a:t>since class imbalance techniques like</a:t>
            </a:r>
            <a:r>
              <a:rPr dirty="0"/>
              <a:t> SMOTE can do that</a:t>
            </a:r>
            <a:r>
              <a:rPr lang="en-ZA" dirty="0"/>
              <a:t> exactly</a:t>
            </a:r>
          </a:p>
          <a:p>
            <a:r>
              <a:rPr dirty="0"/>
              <a:t>3</a:t>
            </a:r>
            <a:r>
              <a:rPr lang="en-ZA" dirty="0"/>
              <a:t>.M</a:t>
            </a:r>
            <a:r>
              <a:rPr dirty="0" err="1"/>
              <a:t>ake</a:t>
            </a:r>
            <a:r>
              <a:rPr dirty="0"/>
              <a:t> </a:t>
            </a:r>
            <a:r>
              <a:rPr lang="en-ZA" dirty="0"/>
              <a:t>every</a:t>
            </a:r>
            <a:r>
              <a:rPr dirty="0"/>
              <a:t> decisions explainable, because</a:t>
            </a:r>
            <a:r>
              <a:rPr lang="en-ZA" dirty="0"/>
              <a:t> </a:t>
            </a:r>
            <a:r>
              <a:rPr dirty="0"/>
              <a:t>the National Credit Act expect</a:t>
            </a:r>
            <a:r>
              <a:rPr lang="en-ZA" dirty="0"/>
              <a:t>s</a:t>
            </a:r>
            <a:r>
              <a:rPr dirty="0"/>
              <a:t> lenders to justify decisions.</a:t>
            </a:r>
            <a:endParaRPr lang="en-ZA" dirty="0"/>
          </a:p>
          <a:p>
            <a:endParaRPr dirty="0"/>
          </a:p>
          <a:p>
            <a:r>
              <a:rPr dirty="0"/>
              <a:t>My objectives follow </a:t>
            </a:r>
            <a:r>
              <a:rPr lang="en-ZA" dirty="0"/>
              <a:t>directly </a:t>
            </a:r>
            <a:r>
              <a:rPr dirty="0"/>
              <a:t>from that</a:t>
            </a:r>
            <a:r>
              <a:rPr lang="en-ZA" dirty="0"/>
              <a:t>:</a:t>
            </a:r>
          </a:p>
          <a:p>
            <a:r>
              <a:rPr lang="en-ZA" dirty="0"/>
              <a:t>1.I should </a:t>
            </a:r>
            <a:r>
              <a:rPr lang="en-ZA" dirty="0" err="1"/>
              <a:t>atleast</a:t>
            </a:r>
            <a:r>
              <a:rPr dirty="0"/>
              <a:t> reach an AUC of at least 0.75</a:t>
            </a:r>
            <a:endParaRPr lang="en-ZA" dirty="0"/>
          </a:p>
          <a:p>
            <a:r>
              <a:rPr lang="en-ZA" dirty="0"/>
              <a:t>2. Again</a:t>
            </a:r>
            <a:r>
              <a:rPr dirty="0"/>
              <a:t> produce trustworthy</a:t>
            </a:r>
            <a:r>
              <a:rPr lang="en-ZA" dirty="0"/>
              <a:t>, well calibrated</a:t>
            </a:r>
            <a:r>
              <a:rPr dirty="0"/>
              <a:t> probabilities</a:t>
            </a:r>
            <a:endParaRPr lang="en-ZA" dirty="0"/>
          </a:p>
          <a:p>
            <a:r>
              <a:rPr lang="en-ZA" dirty="0"/>
              <a:t>3. I should again </a:t>
            </a:r>
            <a:r>
              <a:rPr dirty="0"/>
              <a:t>explain every prediction</a:t>
            </a:r>
            <a:endParaRPr lang="en-ZA" dirty="0"/>
          </a:p>
          <a:p>
            <a:r>
              <a:rPr lang="en-ZA" dirty="0"/>
              <a:t>4. And deliver </a:t>
            </a:r>
            <a:r>
              <a:rPr dirty="0"/>
              <a:t>a</a:t>
            </a:r>
            <a:r>
              <a:rPr lang="en-ZA" dirty="0"/>
              <a:t> working</a:t>
            </a:r>
            <a:r>
              <a:rPr dirty="0"/>
              <a:t>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0323810" y="-414351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6666" r="-16666"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15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3654602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6888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699C8"/>
                </a:solidFill>
                <a:latin typeface="Arial"/>
              </a:rPr>
              <a:t>CAPSTONE PROJECT ·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108960"/>
            <a:ext cx="141732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"/>
              </a:rPr>
              <a:t>CREDIT RISK AND LOAN DEFAULT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669280"/>
            <a:ext cx="1371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1">
                <a:solidFill>
                  <a:srgbClr val="B9C2D3"/>
                </a:solidFill>
                <a:latin typeface="Arial"/>
              </a:rPr>
              <a:t>A comparative machine learning and explainable AI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6949440"/>
            <a:ext cx="12801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Aphelele Siphelele Gwebityala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Student No. 202430482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BSc Data Science · Sol Plaatje University · 2026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Supervisor: Mrs Nthabiseng Modiba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7171088" y="53485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605614" y="-261631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 PROBLEM AND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Every loan is a bet on repayment. Wrong bets are costly in both directions.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5232718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233318"/>
            <a:ext cx="5232718" cy="1010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0" b="1" i="0">
                <a:solidFill>
                  <a:srgbClr val="E76F51"/>
                </a:solidFill>
                <a:latin typeface="Arial"/>
              </a:rPr>
              <a:t>R27.1bn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4566" y="4228185"/>
            <a:ext cx="4871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B9C2D3"/>
                </a:solidFill>
                <a:latin typeface="Arial"/>
              </a:rPr>
              <a:t>bad debt charges, SA big four banks, H1 2024 (PwC, 2025)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7503" y="3108960"/>
            <a:ext cx="5232718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7503" y="3233318"/>
            <a:ext cx="5232718" cy="1010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0" b="1" i="0">
                <a:solidFill>
                  <a:srgbClr val="8699C8"/>
                </a:solidFill>
                <a:latin typeface="Arial"/>
              </a:rPr>
              <a:t>255,347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7942" y="4228185"/>
            <a:ext cx="4871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B9C2D3"/>
                </a:solidFill>
                <a:latin typeface="Arial"/>
              </a:rPr>
              <a:t>loan records in the dataset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30879" y="3108960"/>
            <a:ext cx="5232718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030879" y="3233318"/>
            <a:ext cx="5232718" cy="1010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0" b="1" i="0">
                <a:solidFill>
                  <a:srgbClr val="E9C46A"/>
                </a:solidFill>
                <a:latin typeface="Arial"/>
              </a:rPr>
              <a:t>11.6%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11318" y="4228185"/>
            <a:ext cx="4871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B9C2D3"/>
                </a:solidFill>
                <a:latin typeface="Arial"/>
              </a:rPr>
              <a:t>of loans default (imbalanced data)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5285231"/>
            <a:ext cx="7939296" cy="3808476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85005" y="5440679"/>
            <a:ext cx="7217542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8699C8"/>
                </a:solidFill>
                <a:latin typeface="Arial"/>
              </a:rPr>
              <a:t>Problem statement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473215"/>
            <a:ext cx="7217542" cy="4431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endParaRPr lang="en-ZA" sz="2400" b="1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1" dirty="0">
                <a:solidFill>
                  <a:schemeClr val="bg1"/>
                </a:solidFill>
              </a:rPr>
              <a:t>Credit institutions face a high-stakes decision:</a:t>
            </a:r>
            <a:r>
              <a:rPr lang="en-ZA" sz="2400" dirty="0">
                <a:solidFill>
                  <a:schemeClr val="bg1"/>
                </a:solidFill>
              </a:rPr>
              <a:t> they must determine whether an applicant is likely to repay a loan before providing the funds.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1" dirty="0">
                <a:solidFill>
                  <a:schemeClr val="bg1"/>
                </a:solidFill>
              </a:rPr>
              <a:t>Loan default prediction is challenging because risk is not determined by one factor.</a:t>
            </a:r>
            <a:r>
              <a:rPr lang="en-ZA" sz="2400" dirty="0">
                <a:solidFill>
                  <a:schemeClr val="bg1"/>
                </a:solidFill>
              </a:rPr>
              <a:t> Applicant income, employment, interest rate, age, debt-to-income can interact in complex ways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 </a:t>
            </a:r>
            <a:r>
              <a:rPr lang="en-ZA" sz="2400" b="1" dirty="0">
                <a:solidFill>
                  <a:schemeClr val="bg1"/>
                </a:solidFill>
              </a:rPr>
              <a:t>A model cannot be useful in credit decisions if it only predicts risk without explaining it.</a:t>
            </a:r>
            <a:r>
              <a:rPr lang="en-ZA" sz="2400" dirty="0">
                <a:solidFill>
                  <a:schemeClr val="bg1"/>
                </a:solidFill>
              </a:rPr>
              <a:t> The system therefore needs to produce reliable probabilities and understandable reasons for its predictions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4301" y="5285231"/>
            <a:ext cx="7939296" cy="3808476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85178" y="5440679"/>
            <a:ext cx="7217542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8699C8"/>
                </a:solidFill>
                <a:latin typeface="Arial"/>
              </a:rPr>
              <a:t>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5178" y="6062472"/>
            <a:ext cx="7217542" cy="2953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Reach test AUC ≥ 0.75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Produce well-calibrated probabilities of default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Explain every prediction (SHAP, odds ratios, scorecard)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Deliver an interactive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SCOPE AND DELIMITATION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What this study covers, and what it deliberately leaves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7939296" cy="5907024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85005" y="3264408"/>
            <a:ext cx="7217542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A9D8F"/>
                </a:solidFill>
                <a:latin typeface="Arial"/>
              </a:rPr>
              <a:t>In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5005" y="3886200"/>
            <a:ext cx="7307761" cy="4974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One public dataset: Kaggle Loan Default (255,347 loans)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Logistic + L1, Probit, Random Forest, XGBoost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Weight-of-Evidence points scorecard (optbinning)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Explainability: SHAP, odds ratios, Information Value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A Streamlit dashboard and a Power BI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4301" y="3108960"/>
            <a:ext cx="7939296" cy="5907024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85178" y="3264408"/>
            <a:ext cx="7217542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76F51"/>
                </a:solidFill>
                <a:latin typeface="Arial"/>
              </a:rPr>
              <a:t>Out of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5178" y="3886200"/>
            <a:ext cx="7307761" cy="4974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Deep learning beyond a simple network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Other data (bank transactions, social media, telecoms)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A production, live banking system: the app is a research prototype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>
                <a:solidFill>
                  <a:srgbClr val="FFFFFF"/>
                </a:solidFill>
                <a:latin typeface="Arial"/>
              </a:rPr>
              <a:t>A full fairness and bias audit (flagged as future work)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377014" y="-246470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4000" b="1" dirty="0" err="1">
                <a:solidFill>
                  <a:srgbClr val="FFFFFF"/>
                </a:solidFill>
                <a:latin typeface="Arial"/>
              </a:rPr>
              <a:t>PowerBI</a:t>
            </a:r>
            <a:r>
              <a:rPr lang="en-ZA" sz="4000" b="1" dirty="0">
                <a:solidFill>
                  <a:srgbClr val="FFFFFF"/>
                </a:solidFill>
                <a:latin typeface="Arial"/>
              </a:rPr>
              <a:t> Dashboard</a:t>
            </a:r>
            <a:endParaRPr sz="4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8699C8"/>
                </a:solidFill>
                <a:latin typeface="Arial"/>
              </a:rPr>
              <a:t>Power BI for portfolio </a:t>
            </a:r>
            <a:r>
              <a:rPr sz="2000" b="0" i="0" dirty="0" err="1">
                <a:solidFill>
                  <a:srgbClr val="8699C8"/>
                </a:solidFill>
                <a:latin typeface="Arial"/>
              </a:rPr>
              <a:t>insigh</a:t>
            </a:r>
            <a:r>
              <a:rPr lang="en-ZA" sz="2000" b="0" i="0" dirty="0">
                <a:solidFill>
                  <a:srgbClr val="8699C8"/>
                </a:solidFill>
                <a:latin typeface="Arial"/>
              </a:rPr>
              <a:t>t</a:t>
            </a:r>
            <a:endParaRPr sz="2000" b="0" i="0" dirty="0">
              <a:solidFill>
                <a:srgbClr val="8699C8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10465436" cy="5129783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ower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27" y="3154680"/>
            <a:ext cx="15415673" cy="62819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9528047"/>
            <a:ext cx="1046543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1" dirty="0">
                <a:solidFill>
                  <a:srgbClr val="B9C2D3"/>
                </a:solidFill>
                <a:latin typeface="Arial"/>
              </a:rPr>
              <a:t>Power BI: portfolio view (255K loans, R33bn book, R4.29bn at risk)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326809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139275" y="664464"/>
            <a:ext cx="16792251" cy="12039602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RELATED LITERATURE AND 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18 studies reviewed (Chapter 2): three consistent threads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16239469" cy="1476756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85005" y="3419856"/>
            <a:ext cx="731520" cy="731520"/>
          </a:xfrm>
          <a:prstGeom prst="ellipse">
            <a:avLst/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7636" y="3202228"/>
            <a:ext cx="14435084" cy="13213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 dirty="0">
                <a:solidFill>
                  <a:srgbClr val="FFFFFF"/>
                </a:solidFill>
                <a:latin typeface="Arial"/>
              </a:rPr>
              <a:t>Ensembles win, but need explaining</a:t>
            </a:r>
          </a:p>
          <a:p>
            <a:pPr algn="l"/>
            <a:r>
              <a:rPr sz="1900" b="0" i="0" dirty="0">
                <a:solidFill>
                  <a:srgbClr val="B9C2D3"/>
                </a:solidFill>
                <a:latin typeface="Arial"/>
              </a:rPr>
              <a:t>Random Forest and </a:t>
            </a:r>
            <a:r>
              <a:rPr sz="1900" b="0" i="0" dirty="0" err="1">
                <a:solidFill>
                  <a:srgbClr val="B9C2D3"/>
                </a:solidFill>
                <a:latin typeface="Arial"/>
              </a:rPr>
              <a:t>XGBoost</a:t>
            </a:r>
            <a:r>
              <a:rPr sz="1900" b="0" i="0" dirty="0">
                <a:solidFill>
                  <a:srgbClr val="B9C2D3"/>
                </a:solidFill>
                <a:latin typeface="Arial"/>
              </a:rPr>
              <a:t> beat linear models on tabular credit data, and are paired with SHAP (Chang et al., 2024; Martin et al., 2024; Lundberg &amp; Lee, 2017).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741164"/>
            <a:ext cx="16239469" cy="1476756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85005" y="5052060"/>
            <a:ext cx="731520" cy="731520"/>
          </a:xfrm>
          <a:prstGeom prst="ellipse">
            <a:avLst/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7636" y="4834432"/>
            <a:ext cx="14435084" cy="13213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rial"/>
              </a:rPr>
              <a:t>Imbalance is under-addressed</a:t>
            </a:r>
          </a:p>
          <a:p>
            <a:pPr algn="l"/>
            <a:r>
              <a:rPr sz="1900" b="0" i="0">
                <a:solidFill>
                  <a:srgbClr val="B9C2D3"/>
                </a:solidFill>
                <a:latin typeface="Arial"/>
              </a:rPr>
              <a:t>Accuracy hides poor recall on defaulters; there is no single fix (Zurada, 2002; Zhou &amp; Wang, 2012; He &amp; Garcia, 2009).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6373368"/>
            <a:ext cx="16239469" cy="1476756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5005" y="6684264"/>
            <a:ext cx="731520" cy="731520"/>
          </a:xfrm>
          <a:prstGeom prst="ellipse">
            <a:avLst/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7636" y="6466636"/>
            <a:ext cx="14435084" cy="13213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rial"/>
              </a:rPr>
              <a:t>Interest rate and risk are linked</a:t>
            </a:r>
          </a:p>
          <a:p>
            <a:pPr algn="l"/>
            <a:r>
              <a:rPr sz="1900" b="0" i="0">
                <a:solidFill>
                  <a:srgbClr val="B9C2D3"/>
                </a:solidFill>
                <a:latin typeface="Arial"/>
              </a:rPr>
              <a:t>South African and microfinance work agrees interest rate is both a result and a cause of default risk (PwC, 2025; Stiglitz &amp; Weiss, 1981).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8083296"/>
            <a:ext cx="16239469" cy="932688"/>
          </a:xfrm>
          <a:prstGeom prst="roundRect">
            <a:avLst>
              <a:gd name="adj" fmla="val 6000"/>
            </a:avLst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85005" y="8114385"/>
            <a:ext cx="15517715" cy="8705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Gap this project fills: few studies show a failed calibration test and how it was fixed, or test SMOTE against class-weighting on the same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METHODOLOGY: CRISP-DM PROCESS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Six phases, applied end to end, with one important correction along the 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264408"/>
            <a:ext cx="2435920" cy="1554480"/>
          </a:xfrm>
          <a:prstGeom prst="roundRect">
            <a:avLst>
              <a:gd name="adj" fmla="val 6000"/>
            </a:avLst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4347" y="3264408"/>
            <a:ext cx="2255481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519"/>
                </a:solidFill>
                <a:latin typeface="Arial"/>
              </a:rPr>
              <a:t>Business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74336"/>
            <a:ext cx="2435920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B9C2D3"/>
                </a:solidFill>
                <a:latin typeface="Arial"/>
              </a:rPr>
              <a:t>Goal: PD + explanation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0706" y="3264408"/>
            <a:ext cx="2435920" cy="1554480"/>
          </a:xfrm>
          <a:prstGeom prst="roundRect">
            <a:avLst>
              <a:gd name="adj" fmla="val 6000"/>
            </a:avLst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20925" y="3264408"/>
            <a:ext cx="2255481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Data understanding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06" y="4974336"/>
            <a:ext cx="2435920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B9C2D3"/>
                </a:solidFill>
                <a:latin typeface="Arial"/>
              </a:rPr>
              <a:t>EDA, chi-square, correlations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7284" y="3264408"/>
            <a:ext cx="2435920" cy="1554480"/>
          </a:xfrm>
          <a:prstGeom prst="roundRect">
            <a:avLst>
              <a:gd name="adj" fmla="val 6000"/>
            </a:avLst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7503" y="3264408"/>
            <a:ext cx="2255481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519"/>
                </a:solidFill>
                <a:latin typeface="Arial"/>
              </a:rPr>
              <a:t>Data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284" y="4974336"/>
            <a:ext cx="2435920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B9C2D3"/>
                </a:solidFill>
                <a:latin typeface="Arial"/>
              </a:rPr>
              <a:t>One-hot, 80/20 split, class weights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3862" y="3264408"/>
            <a:ext cx="2435920" cy="1554480"/>
          </a:xfrm>
          <a:prstGeom prst="roundRect">
            <a:avLst>
              <a:gd name="adj" fmla="val 6000"/>
            </a:avLst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4082" y="3264408"/>
            <a:ext cx="2255481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Modelling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862" y="4974336"/>
            <a:ext cx="2435920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B9C2D3"/>
                </a:solidFill>
                <a:latin typeface="Arial"/>
              </a:rPr>
              <a:t>Logit, RF, XGBoost, scorecard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50441" y="3264408"/>
            <a:ext cx="2435920" cy="1554480"/>
          </a:xfrm>
          <a:prstGeom prst="roundRect">
            <a:avLst>
              <a:gd name="adj" fmla="val 6000"/>
            </a:avLst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940660" y="3264408"/>
            <a:ext cx="2255481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519"/>
                </a:solidFill>
                <a:latin typeface="Arial"/>
              </a:rPr>
              <a:t>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50441" y="4974336"/>
            <a:ext cx="2435920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B9C2D3"/>
                </a:solidFill>
                <a:latin typeface="Arial"/>
              </a:rPr>
              <a:t>AUC, recall, calibration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557019" y="3264408"/>
            <a:ext cx="2435920" cy="1554480"/>
          </a:xfrm>
          <a:prstGeom prst="roundRect">
            <a:avLst>
              <a:gd name="adj" fmla="val 6000"/>
            </a:avLst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647238" y="3264408"/>
            <a:ext cx="2255481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57019" y="4974336"/>
            <a:ext cx="2435920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B9C2D3"/>
                </a:solidFill>
                <a:latin typeface="Arial"/>
              </a:rPr>
              <a:t>Streamlit + Power BI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" y="6295644"/>
            <a:ext cx="16239469" cy="2642615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85005" y="6451092"/>
            <a:ext cx="15517715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76F51"/>
                </a:solidFill>
                <a:latin typeface="Arial"/>
              </a:rPr>
              <a:t>Key methodological correction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5005" y="7072883"/>
            <a:ext cx="15517715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Char char="•"/>
            </a:pPr>
            <a:r>
              <a:rPr sz="2100" dirty="0">
                <a:solidFill>
                  <a:srgbClr val="FFFFFF"/>
                </a:solidFill>
                <a:latin typeface="Arial"/>
              </a:rPr>
              <a:t>Earlier version used SMOTE: Hosmer-</a:t>
            </a:r>
            <a:r>
              <a:rPr sz="2100" dirty="0" err="1">
                <a:solidFill>
                  <a:srgbClr val="FFFFFF"/>
                </a:solidFill>
                <a:latin typeface="Arial"/>
              </a:rPr>
              <a:t>Lemeshow</a:t>
            </a:r>
            <a:r>
              <a:rPr sz="2100" dirty="0">
                <a:solidFill>
                  <a:srgbClr val="FFFFFF"/>
                </a:solidFill>
                <a:latin typeface="Arial"/>
              </a:rPr>
              <a:t> test failed and every p-value was exactly zero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 dirty="0">
                <a:solidFill>
                  <a:srgbClr val="FFFFFF"/>
                </a:solidFill>
                <a:latin typeface="Arial"/>
              </a:rPr>
              <a:t>Final version uses class weights (</a:t>
            </a:r>
            <a:r>
              <a:rPr sz="2100" dirty="0" err="1">
                <a:solidFill>
                  <a:srgbClr val="FFFFFF"/>
                </a:solidFill>
                <a:latin typeface="Arial"/>
              </a:rPr>
              <a:t>class_weight</a:t>
            </a:r>
            <a:r>
              <a:rPr sz="2100" dirty="0">
                <a:solidFill>
                  <a:srgbClr val="FFFFFF"/>
                </a:solidFill>
                <a:latin typeface="Arial"/>
              </a:rPr>
              <a:t>='balanced', </a:t>
            </a:r>
            <a:r>
              <a:rPr sz="2100" dirty="0" err="1">
                <a:solidFill>
                  <a:srgbClr val="FFFFFF"/>
                </a:solidFill>
                <a:latin typeface="Arial"/>
              </a:rPr>
              <a:t>scale_pos_weight</a:t>
            </a:r>
            <a:r>
              <a:rPr sz="2100" dirty="0">
                <a:solidFill>
                  <a:srgbClr val="FFFFFF"/>
                </a:solidFill>
                <a:latin typeface="Arial"/>
              </a:rPr>
              <a:t>) on the real data distribution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2100" dirty="0">
                <a:solidFill>
                  <a:srgbClr val="FFFFFF"/>
                </a:solidFill>
                <a:latin typeface="Arial"/>
              </a:rPr>
              <a:t>Result: valid inference, honest comparison and calibratable probabilities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IMPLEMENTATION PIPELINE AND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From raw loan records to a deployed, explainable scoring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3608771" cy="2098548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04566" y="3295497"/>
            <a:ext cx="731520" cy="731520"/>
          </a:xfrm>
          <a:prstGeom prst="ellipse">
            <a:avLst/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6759" y="3264408"/>
            <a:ext cx="243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Raw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0654" y="4010558"/>
            <a:ext cx="3211806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Kaggle Loan Default: 255,347 loans, 16 predictors, 11.6% 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99" y="3653028"/>
            <a:ext cx="6008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8699C8"/>
                </a:solidFill>
                <a:latin typeface="Arial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3759" y="3108960"/>
            <a:ext cx="3608771" cy="2098548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14197" y="3295497"/>
            <a:ext cx="731520" cy="731520"/>
          </a:xfrm>
          <a:prstGeom prst="ellipse">
            <a:avLst/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6390" y="3264408"/>
            <a:ext cx="243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Clean and encode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0285" y="4010558"/>
            <a:ext cx="3211806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No missing values or duplicates; LoanID dropped; one-hot encoding gives 24 columns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530" y="3653028"/>
            <a:ext cx="6008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8699C8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43390" y="3108960"/>
            <a:ext cx="3608771" cy="2098548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23829" y="3295497"/>
            <a:ext cx="731520" cy="731520"/>
          </a:xfrm>
          <a:prstGeom prst="ellipse">
            <a:avLst/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26022" y="3264408"/>
            <a:ext cx="243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9917" y="4010558"/>
            <a:ext cx="3211806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Stratified 80/20: 204,277 train and 51,070 test loans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52161" y="3653028"/>
            <a:ext cx="6008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8699C8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653022" y="3108960"/>
            <a:ext cx="3608771" cy="2098548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3833460" y="3295497"/>
            <a:ext cx="731520" cy="731520"/>
          </a:xfrm>
          <a:prstGeom prst="ellipse">
            <a:avLst/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35653" y="3264408"/>
            <a:ext cx="243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Train and tune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9548" y="4010558"/>
            <a:ext cx="3211806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Class-weighted Logistic + L1, Random Forest and XGBoost, tuned with 5-fold CV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5440679"/>
            <a:ext cx="3608771" cy="2098548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204566" y="5627217"/>
            <a:ext cx="731520" cy="731520"/>
          </a:xfrm>
          <a:prstGeom prst="ellipse">
            <a:avLst/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6759" y="5596128"/>
            <a:ext cx="243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Evaluate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0654" y="6342278"/>
            <a:ext cx="3211806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AUC, recall, precision, F1; Youden's J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2899" y="5984748"/>
            <a:ext cx="6008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8699C8"/>
                </a:solidFill>
                <a:latin typeface="Arial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33759" y="5440679"/>
            <a:ext cx="3608771" cy="2098548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414197" y="5627217"/>
            <a:ext cx="731520" cy="731520"/>
          </a:xfrm>
          <a:prstGeom prst="ellipse">
            <a:avLst/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6390" y="5596128"/>
            <a:ext cx="243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Calibrate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0285" y="6342278"/>
            <a:ext cx="3211806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Isotonic calibration; Hosmer-Lemeshow test (p = 0.21)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42530" y="5984748"/>
            <a:ext cx="6008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8699C8"/>
                </a:solidFill>
                <a:latin typeface="Arial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3390" y="5440679"/>
            <a:ext cx="3608771" cy="2098548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623829" y="5627217"/>
            <a:ext cx="731520" cy="731520"/>
          </a:xfrm>
          <a:prstGeom prst="ellipse">
            <a:avLst/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26022" y="5596128"/>
            <a:ext cx="243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Explain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9917" y="6342278"/>
            <a:ext cx="3211806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SHAP, odds ratios, Information Value and WoE scorecard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52161" y="5984748"/>
            <a:ext cx="6008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8699C8"/>
                </a:solidFill>
                <a:latin typeface="Arial"/>
              </a:rPr>
              <a:t>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653022" y="5440679"/>
            <a:ext cx="3608771" cy="2098548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3833460" y="5627217"/>
            <a:ext cx="731520" cy="731520"/>
          </a:xfrm>
          <a:prstGeom prst="ellipse">
            <a:avLst/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735653" y="5596128"/>
            <a:ext cx="243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Deploy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869548" y="6342278"/>
            <a:ext cx="3211806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Streamlit app (live scoring) and Power BI dashboard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" y="7850124"/>
            <a:ext cx="16239469" cy="1165860"/>
          </a:xfrm>
          <a:prstGeom prst="roundRect">
            <a:avLst>
              <a:gd name="adj" fmla="val 6000"/>
            </a:avLst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85005" y="7881213"/>
            <a:ext cx="15517715" cy="1103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Tools: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Python, pandas, scikit-learn, XGBoost, statsmodels, SHAP, optbinning, matplotlib, Streamlit and Power BI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DATA AND FINAL MODEL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255,347 loans, 16 predictors, 24 model columns after encoding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6495787" cy="5829300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204566" y="3264408"/>
          <a:ext cx="613491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24128" y="8083296"/>
            <a:ext cx="6495787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B9C2D3"/>
                </a:solidFill>
                <a:latin typeface="Arial"/>
              </a:rPr>
              <a:t>Class balance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0792" y="3108960"/>
            <a:ext cx="9382804" cy="1321307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97319" y="3264408"/>
            <a:ext cx="731520" cy="731520"/>
          </a:xfrm>
          <a:prstGeom prst="ellipse">
            <a:avLst/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862" y="3155594"/>
            <a:ext cx="7939296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8699C8"/>
                </a:solidFill>
                <a:latin typeface="Arial"/>
              </a:rPr>
              <a:t>9 numeric features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Age, Income, LoanAmount, CreditScore, MonthsEmployed, NumCreditLines, InterestRate, LoanTerm, DTIRatio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80792" y="4585716"/>
            <a:ext cx="9382804" cy="1321307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97319" y="4741164"/>
            <a:ext cx="731520" cy="731520"/>
          </a:xfrm>
          <a:prstGeom prst="ellipse">
            <a:avLst/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862" y="4632350"/>
            <a:ext cx="7939296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8699C8"/>
                </a:solidFill>
                <a:latin typeface="Arial"/>
              </a:rPr>
              <a:t>7 categorical features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Education, EmploymentType, MaritalStatus, HasMortgage, HasDependents, LoanPurpose, HasCoSigner (one-hot encoded, 24 model columns)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0792" y="6062472"/>
            <a:ext cx="9382804" cy="1321307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97319" y="6217920"/>
            <a:ext cx="731520" cy="731520"/>
          </a:xfrm>
          <a:prstGeom prst="ellipse">
            <a:avLst/>
          </a:prstGeom>
          <a:solidFill>
            <a:srgbClr val="869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862" y="6109106"/>
            <a:ext cx="7939296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8699C8"/>
                </a:solidFill>
                <a:latin typeface="Arial"/>
              </a:rPr>
              <a:t>Clean data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No missing values, no duplicates. LoanID dropped.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0792" y="7539227"/>
            <a:ext cx="9382804" cy="1321307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97319" y="7694675"/>
            <a:ext cx="731520" cy="731520"/>
          </a:xfrm>
          <a:prstGeom prst="ellipse">
            <a:avLst/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400" b="1">
                <a:solidFill>
                  <a:srgbClr val="141519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862" y="7585862"/>
            <a:ext cx="7939296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8699C8"/>
                </a:solidFill>
                <a:latin typeface="Arial"/>
              </a:rPr>
              <a:t>Split and imbalance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Stratified 80/20: 204,277 train, 51,070 test. Class weights, no SMOTE.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FEATURE SELECTION: INFORMATION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IV measures how well a variable separates defaulters from non-defaulters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10104558" cy="5907024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204566" y="3264408"/>
          <a:ext cx="9743681" cy="5596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1489564" y="3108960"/>
            <a:ext cx="5774033" cy="5907024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50441" y="3264408"/>
            <a:ext cx="5052279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8699C8"/>
                </a:solidFill>
                <a:latin typeface="Arial"/>
              </a:rPr>
              <a:t>How to read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50441" y="3963924"/>
            <a:ext cx="5142498" cy="4974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Above 0.1: medium (Age, InterestRate, Income)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0.02 to 0.1: weak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Below 0.02: useless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CreditScore IV = 0.013: almost no independent signal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The 3 methods (IV, odds ratios, SHAP) agree on the top drivers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MODEL PERFORMANCE (TEST SET, THRESHOLD 0.5)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After fair class-weighting, the three models are almost equal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10284997" cy="5907024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204566" y="3264408"/>
          <a:ext cx="9924120" cy="5596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1670002" y="3108960"/>
            <a:ext cx="5593595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70002" y="3233318"/>
            <a:ext cx="5593595" cy="1010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0" b="1" i="0">
                <a:solidFill>
                  <a:srgbClr val="E76F51"/>
                </a:solidFill>
                <a:latin typeface="Arial"/>
              </a:rPr>
              <a:t>0.759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50441" y="4228185"/>
            <a:ext cx="523271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B9C2D3"/>
                </a:solidFill>
                <a:latin typeface="Arial"/>
              </a:rPr>
              <a:t>XGBoost test AUC (CV 0.753 ± 0.003)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670002" y="5129784"/>
            <a:ext cx="5593595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670002" y="5254142"/>
            <a:ext cx="5593595" cy="1010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0" b="1" i="0">
                <a:solidFill>
                  <a:srgbClr val="8699C8"/>
                </a:solidFill>
                <a:latin typeface="Arial"/>
              </a:rPr>
              <a:t>0.756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50441" y="6249009"/>
            <a:ext cx="523271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B9C2D3"/>
                </a:solidFill>
                <a:latin typeface="Arial"/>
              </a:rPr>
              <a:t>scorecard AUC: transparent, nearly equal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70002" y="7150608"/>
            <a:ext cx="5593595" cy="1865376"/>
          </a:xfrm>
          <a:prstGeom prst="roundRect">
            <a:avLst>
              <a:gd name="adj" fmla="val 6000"/>
            </a:avLst>
          </a:prstGeom>
          <a:solidFill>
            <a:srgbClr val="526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940660" y="7228331"/>
            <a:ext cx="5052279" cy="1709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1">
                <a:solidFill>
                  <a:srgbClr val="FFFFFF"/>
                </a:solidFill>
                <a:latin typeface="Arial"/>
              </a:rPr>
              <a:t>Earlier XGBoost advantage was a SMOTE artefact, not real model superiority.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 PRECISION-RECALL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Why the 0.60 precision target could not be met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8661050" cy="5907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ell3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535" y="3246120"/>
            <a:ext cx="7538235" cy="563270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046055" y="3108960"/>
            <a:ext cx="3428332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46055" y="3233318"/>
            <a:ext cx="3428332" cy="1010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0" b="1" i="0">
                <a:solidFill>
                  <a:srgbClr val="E76F51"/>
                </a:solidFill>
                <a:latin typeface="Arial"/>
              </a:rPr>
              <a:t>0.840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6494" y="4228185"/>
            <a:ext cx="30674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B9C2D3"/>
                </a:solidFill>
                <a:latin typeface="Arial"/>
              </a:rPr>
              <a:t>threshold needed for 60% precision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835265" y="3108960"/>
            <a:ext cx="3428332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835265" y="3233318"/>
            <a:ext cx="3428332" cy="1010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0" b="1" i="0">
                <a:solidFill>
                  <a:srgbClr val="E76F51"/>
                </a:solidFill>
                <a:latin typeface="Arial"/>
              </a:rPr>
              <a:t>0.077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15703" y="4228185"/>
            <a:ext cx="30674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B9C2D3"/>
                </a:solidFill>
                <a:latin typeface="Arial"/>
              </a:rPr>
              <a:t>recall at that threshold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46055" y="5207508"/>
            <a:ext cx="7217542" cy="3808476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06932" y="5362956"/>
            <a:ext cx="6495787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8699C8"/>
                </a:solidFill>
                <a:latin typeface="Arial"/>
              </a:rPr>
              <a:t>Youden's J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6932" y="5984748"/>
            <a:ext cx="6586007" cy="2953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Optimal cut-off 0.508, almost the default 0.5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TPR 0.68, FPR 0.30, F1 0.344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So 0.5 is already near optimal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Chosen policy favours catching defaulters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CALIBRATION: MAKING PROBABILITIES TRUSTWORTHY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Isotonic calibration on XGBoost, tested with Hosmer-Lemeshow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7217542" cy="5907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ell4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547" y="3246120"/>
            <a:ext cx="5632704" cy="563270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602547" y="3108960"/>
            <a:ext cx="4240305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02547" y="3233318"/>
            <a:ext cx="4240305" cy="1010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0" b="1" i="0">
                <a:solidFill>
                  <a:srgbClr val="E76F51"/>
                </a:solidFill>
                <a:latin typeface="Arial"/>
              </a:rPr>
              <a:t>p &lt; 0.0001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2985" y="4228185"/>
            <a:ext cx="387942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B9C2D3"/>
                </a:solidFill>
                <a:latin typeface="Arial"/>
              </a:rPr>
              <a:t>raw XGBoost (stat 25,643): fails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13510" y="3108960"/>
            <a:ext cx="4150086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113510" y="3233318"/>
            <a:ext cx="4150086" cy="1010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0" b="1" i="0">
                <a:solidFill>
                  <a:srgbClr val="2A9D8F"/>
                </a:solidFill>
                <a:latin typeface="Arial"/>
              </a:rPr>
              <a:t>p = 0.21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93949" y="4228185"/>
            <a:ext cx="378920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B9C2D3"/>
                </a:solidFill>
                <a:latin typeface="Arial"/>
              </a:rPr>
              <a:t>calibrated (stat 10.9): passes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02547" y="5207508"/>
            <a:ext cx="8661050" cy="3808476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3424" y="5440679"/>
            <a:ext cx="793929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Tree models over-state risk when trained with class weights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Calibration reshapes probabilities only: AUC 0.7583 to 0.7588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A predicted 30% now means about 30% observed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SHAP is computed on the raw model; calibration is monotonic so driver rankings are unchanged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EXPLAINABILITY WITH SHAP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Which features drive each prediction, and in which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9924120" cy="5907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ell4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270" y="3246120"/>
            <a:ext cx="7249835" cy="563270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309125" y="3108960"/>
            <a:ext cx="5954472" cy="5907024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79783" y="3264408"/>
            <a:ext cx="5413156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8699C8"/>
                </a:solidFill>
                <a:latin typeface="Arial"/>
              </a:rPr>
              <a:t>What it tells a credit officer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79783" y="4352544"/>
            <a:ext cx="550337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Top 5 drivers: Age, InterestRate, MonthsEmployed, Income, LoanAmount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CreditScore ranks only 8th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Odds ratios: +1 SD interest rate = 1.58x odds of default; +1 SD age = 0.56x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The dashboard shows a per-applicant waterfall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FROM PROBABILITY TO DECISION: RISK BANDS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Calibrated PD split into three tiers that separate risk cleanly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9021927" cy="5907024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204566" y="3264408"/>
          <a:ext cx="8661050" cy="5596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0406932" y="3108960"/>
            <a:ext cx="6856664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77590" y="3575304"/>
            <a:ext cx="1804385" cy="77724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77590" y="3575304"/>
            <a:ext cx="180438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141519"/>
                </a:solidFill>
                <a:latin typeface="Arial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52633" y="3233318"/>
            <a:ext cx="4330525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74.4% of applicants</a:t>
            </a:r>
          </a:p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Approve on standard terms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06932" y="5129784"/>
            <a:ext cx="6856664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677590" y="5596128"/>
            <a:ext cx="1804385" cy="777240"/>
          </a:xfrm>
          <a:prstGeom prst="roundRect">
            <a:avLst>
              <a:gd name="adj" fmla="val 6000"/>
            </a:avLst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77590" y="5596128"/>
            <a:ext cx="180438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141519"/>
                </a:solidFill>
                <a:latin typeface="Arial"/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52633" y="5254142"/>
            <a:ext cx="4330525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22.8% of applicants</a:t>
            </a:r>
          </a:p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Review: higher rate, co-signer or lower amount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06932" y="7150608"/>
            <a:ext cx="6856664" cy="1787651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677590" y="7616952"/>
            <a:ext cx="1804385" cy="777240"/>
          </a:xfrm>
          <a:prstGeom prst="roundRect">
            <a:avLst>
              <a:gd name="adj" fmla="val 6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77590" y="7616952"/>
            <a:ext cx="180438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141519"/>
                </a:solidFill>
                <a:latin typeface="Arial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52633" y="7274966"/>
            <a:ext cx="4330525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2.9% of applicants</a:t>
            </a:r>
          </a:p>
          <a:p>
            <a:pPr algn="l"/>
            <a:r>
              <a:rPr sz="1800" b="0" i="0">
                <a:solidFill>
                  <a:srgbClr val="B9C2D3"/>
                </a:solidFill>
                <a:latin typeface="Arial"/>
              </a:rPr>
              <a:t>Decline or manual underwriting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ACTIONABLE INSIGHTS AND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16239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8699C8"/>
                </a:solidFill>
                <a:latin typeface="Arial"/>
              </a:rPr>
              <a:t>What a lender should do, and what this study cannot claim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108960"/>
            <a:ext cx="7939296" cy="5907024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85005" y="3264408"/>
            <a:ext cx="7217542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A9D8F"/>
                </a:solidFill>
                <a:latin typeface="Arial"/>
              </a:rPr>
              <a:t>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5005" y="3886200"/>
            <a:ext cx="7307761" cy="5129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Use class weights, not SMOTE, and always test calibration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Use the scorecard as the regulator-facing tool; XGBoost + SHAP for monitoring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Send medium and high bands to human review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Price young, low-income and short-tenure applicants with care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Test the CreditScore finding on another dataset; next steps: fairness audit, drift monitoring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4301" y="3108960"/>
            <a:ext cx="7939296" cy="5907024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85178" y="3264408"/>
            <a:ext cx="7217542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76F51"/>
                </a:solidFill>
                <a:latin typeface="Arial"/>
              </a:rPr>
              <a:t>Limitations and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5178" y="3886200"/>
            <a:ext cx="7307761" cy="5129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One static public dataset: no test of concept drift over time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Model settings searched on a 40,000-row subsample of training data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How CreditScore was generated is undocumented, so its weak signal is an open question</a:t>
            </a:r>
          </a:p>
          <a:p>
            <a:pPr marL="342900" indent="-342900">
              <a:spcAft>
                <a:spcPts val="900"/>
              </a:spcAft>
              <a:buChar char="•"/>
            </a:pPr>
            <a:r>
              <a:rPr sz="1900">
                <a:solidFill>
                  <a:srgbClr val="FFFFFF"/>
                </a:solidFill>
                <a:latin typeface="Arial"/>
              </a:rPr>
              <a:t>No fairness audit (Age is a strong driver); precision about 0.23; prototype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91640"/>
            <a:ext cx="162397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3017520"/>
            <a:ext cx="8010144" cy="1920240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89888" y="3017520"/>
            <a:ext cx="731520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8699C8"/>
                </a:solidFill>
                <a:latin typeface="Arial"/>
              </a:rPr>
              <a:t>Accurate enough</a:t>
            </a:r>
          </a:p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Test AUC 0.759 meets the 0.75 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3017520"/>
            <a:ext cx="8010144" cy="1920240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19488" y="3017520"/>
            <a:ext cx="731520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8699C8"/>
                </a:solidFill>
                <a:latin typeface="Arial"/>
              </a:rPr>
              <a:t>Honest probabilities</a:t>
            </a:r>
          </a:p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Calibration fixed: H-L p 0.21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5166360"/>
            <a:ext cx="8010144" cy="1920240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89888" y="5166360"/>
            <a:ext cx="731520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8699C8"/>
                </a:solidFill>
                <a:latin typeface="Arial"/>
              </a:rPr>
              <a:t>Explainable</a:t>
            </a:r>
          </a:p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SHAP + scorecard (AUC 0.756) at no real accuracy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53728" y="5166360"/>
            <a:ext cx="8010144" cy="1920240"/>
          </a:xfrm>
          <a:prstGeom prst="roundRect">
            <a:avLst>
              <a:gd name="adj" fmla="val 6000"/>
            </a:avLst>
          </a:prstGeom>
          <a:solidFill>
            <a:srgbClr val="2B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19488" y="5166360"/>
            <a:ext cx="731520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8699C8"/>
                </a:solidFill>
                <a:latin typeface="Arial"/>
              </a:rPr>
              <a:t>Method matters</a:t>
            </a:r>
          </a:p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Class weights beat SMOTE for valid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754380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B9C2D3"/>
                </a:solidFill>
                <a:latin typeface="Arial"/>
              </a:rPr>
              <a:t>Code repository: [add GitHub link here]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8229600"/>
            <a:ext cx="155448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1" dirty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77826" y="-3734153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6666" r="-16666"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13" name="Group 2"/>
          <p:cNvGrpSpPr/>
          <p:nvPr/>
        </p:nvGrpSpPr>
        <p:grpSpPr>
          <a:xfrm rot="5400000">
            <a:off x="-6594795" y="-403362"/>
            <a:ext cx="10819694" cy="11093723"/>
            <a:chOff x="0" y="0"/>
            <a:chExt cx="2849631" cy="2921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98286" y="-403362"/>
            <a:ext cx="10819694" cy="11093723"/>
            <a:chOff x="0" y="0"/>
            <a:chExt cx="2849631" cy="2921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9631" cy="2921804"/>
            </a:xfrm>
            <a:custGeom>
              <a:avLst/>
              <a:gdLst/>
              <a:ahLst/>
              <a:cxnLst/>
              <a:rect l="l" t="t" r="r" b="b"/>
              <a:pathLst>
                <a:path w="2849631" h="2921804">
                  <a:moveTo>
                    <a:pt x="0" y="0"/>
                  </a:moveTo>
                  <a:lnTo>
                    <a:pt x="2849631" y="0"/>
                  </a:lnTo>
                  <a:lnTo>
                    <a:pt x="2849631" y="2921804"/>
                  </a:lnTo>
                  <a:lnTo>
                    <a:pt x="0" y="2921804"/>
                  </a:lnTo>
                  <a:close/>
                </a:path>
              </a:pathLst>
            </a:custGeom>
            <a:gradFill rotWithShape="1">
              <a:gsLst>
                <a:gs pos="0">
                  <a:srgbClr val="8699C8">
                    <a:alpha val="0"/>
                  </a:srgbClr>
                </a:gs>
                <a:gs pos="100000">
                  <a:srgbClr val="526692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849631" cy="2902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57727" cy="303743"/>
          </a:xfrm>
          <a:custGeom>
            <a:avLst/>
            <a:gdLst/>
            <a:ahLst/>
            <a:cxnLst/>
            <a:rect l="l" t="t" r="r" b="b"/>
            <a:pathLst>
              <a:path w="357727" h="303743">
                <a:moveTo>
                  <a:pt x="0" y="0"/>
                </a:moveTo>
                <a:lnTo>
                  <a:pt x="357727" y="0"/>
                </a:lnTo>
                <a:lnTo>
                  <a:pt x="357727" y="303743"/>
                </a:lnTo>
                <a:lnTo>
                  <a:pt x="0" y="303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481328" y="95097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Credit Risk &amp; Loan Default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95097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NCPS730 Capstone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30" y="2609071"/>
            <a:ext cx="16239744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0" b="1" i="0" dirty="0">
                <a:solidFill>
                  <a:srgbClr val="FFFFFF"/>
                </a:solidFill>
                <a:latin typeface="Arial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74886" y="4493265"/>
            <a:ext cx="18430407" cy="620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i="1" dirty="0" err="1">
                <a:solidFill>
                  <a:srgbClr val="B9C2D3"/>
                </a:solidFill>
                <a:latin typeface="Arial"/>
              </a:rPr>
              <a:t>Streamlit</a:t>
            </a:r>
            <a:r>
              <a:rPr sz="3000" b="0" i="1" dirty="0">
                <a:solidFill>
                  <a:srgbClr val="B9C2D3"/>
                </a:solidFill>
                <a:latin typeface="Arial"/>
              </a:rPr>
              <a:t> application and Power BI dashboard</a:t>
            </a:r>
            <a:endParaRPr lang="en-ZA" sz="3000" b="0" i="1" dirty="0">
              <a:solidFill>
                <a:srgbClr val="B9C2D3"/>
              </a:solidFill>
              <a:latin typeface="Arial"/>
            </a:endParaRPr>
          </a:p>
          <a:p>
            <a:pPr algn="ctr"/>
            <a:endParaRPr lang="en-ZA" sz="3000" i="1" dirty="0">
              <a:solidFill>
                <a:srgbClr val="B9C2D3"/>
              </a:solidFill>
              <a:latin typeface="Arial"/>
            </a:endParaRPr>
          </a:p>
          <a:p>
            <a:pPr algn="ctr"/>
            <a:r>
              <a:rPr lang="en-ZA" sz="3200" b="1" dirty="0" err="1">
                <a:solidFill>
                  <a:srgbClr val="8699C8"/>
                </a:solidFill>
                <a:latin typeface="Arial"/>
              </a:rPr>
              <a:t>Streamlit</a:t>
            </a:r>
            <a:r>
              <a:rPr lang="en-ZA" sz="3200" b="1" dirty="0">
                <a:solidFill>
                  <a:srgbClr val="8699C8"/>
                </a:solidFill>
                <a:latin typeface="Arial"/>
              </a:rPr>
              <a:t> app (8 tabs)</a:t>
            </a:r>
          </a:p>
          <a:p>
            <a:pPr algn="ctr"/>
            <a:endParaRPr lang="en-ZA" sz="3200" b="1" dirty="0">
              <a:solidFill>
                <a:srgbClr val="8699C8"/>
              </a:solidFill>
              <a:latin typeface="Arial"/>
            </a:endParaRPr>
          </a:p>
          <a:p>
            <a:pPr marL="342900" indent="-342900" algn="ctr">
              <a:spcAft>
                <a:spcPts val="900"/>
              </a:spcAft>
              <a:buChar char="•"/>
            </a:pPr>
            <a:r>
              <a:rPr lang="en-ZA" dirty="0">
                <a:solidFill>
                  <a:srgbClr val="FFFFFF"/>
                </a:solidFill>
                <a:latin typeface="Arial"/>
              </a:rPr>
              <a:t>Full analysis: EDA, models, IV, calibration, SHAP</a:t>
            </a:r>
          </a:p>
          <a:p>
            <a:pPr marL="342900" indent="-342900" algn="ctr">
              <a:spcAft>
                <a:spcPts val="900"/>
              </a:spcAft>
              <a:buChar char="•"/>
            </a:pPr>
            <a:r>
              <a:rPr lang="en-ZA" dirty="0">
                <a:solidFill>
                  <a:srgbClr val="FFFFFF"/>
                </a:solidFill>
                <a:latin typeface="Arial"/>
              </a:rPr>
              <a:t>Live applicant form</a:t>
            </a:r>
          </a:p>
          <a:p>
            <a:pPr marL="342900" indent="-342900" algn="ctr">
              <a:spcAft>
                <a:spcPts val="900"/>
              </a:spcAft>
              <a:buChar char="•"/>
            </a:pPr>
            <a:r>
              <a:rPr lang="en-ZA" dirty="0">
                <a:solidFill>
                  <a:srgbClr val="FFFFFF"/>
                </a:solidFill>
                <a:latin typeface="Arial"/>
              </a:rPr>
              <a:t>Probability of default, risk band, recommendation</a:t>
            </a:r>
          </a:p>
          <a:p>
            <a:pPr marL="342900" indent="-342900" algn="ctr">
              <a:spcAft>
                <a:spcPts val="900"/>
              </a:spcAft>
              <a:buChar char="•"/>
            </a:pPr>
            <a:r>
              <a:rPr lang="en-ZA" dirty="0">
                <a:solidFill>
                  <a:srgbClr val="FFFFFF"/>
                </a:solidFill>
                <a:latin typeface="Arial"/>
              </a:rPr>
              <a:t>SHAP waterfall per applicant</a:t>
            </a:r>
          </a:p>
          <a:p>
            <a:pPr marL="342900" indent="-342900" algn="ctr">
              <a:spcAft>
                <a:spcPts val="900"/>
              </a:spcAft>
              <a:buChar char="•"/>
            </a:pPr>
            <a:r>
              <a:rPr lang="en-ZA" dirty="0">
                <a:solidFill>
                  <a:srgbClr val="FFFFFF"/>
                </a:solidFill>
                <a:latin typeface="Arial"/>
              </a:rPr>
              <a:t>Runs with: </a:t>
            </a:r>
            <a:r>
              <a:rPr lang="en-ZA" dirty="0" err="1">
                <a:solidFill>
                  <a:srgbClr val="FFFFFF"/>
                </a:solidFill>
                <a:latin typeface="Arial"/>
              </a:rPr>
              <a:t>streamlit</a:t>
            </a:r>
            <a:r>
              <a:rPr lang="en-ZA" dirty="0">
                <a:solidFill>
                  <a:srgbClr val="FFFFFF"/>
                </a:solidFill>
                <a:latin typeface="Arial"/>
              </a:rPr>
              <a:t> run app.py</a:t>
            </a:r>
          </a:p>
          <a:p>
            <a:pPr algn="ctr"/>
            <a:endParaRPr lang="en-ZA" sz="3200" b="1" dirty="0">
              <a:solidFill>
                <a:srgbClr val="8699C8"/>
              </a:solidFill>
              <a:latin typeface="Arial"/>
            </a:endParaRPr>
          </a:p>
          <a:p>
            <a:pPr algn="ctr"/>
            <a:endParaRPr lang="en-ZA" sz="3000" b="0" i="1" dirty="0">
              <a:solidFill>
                <a:srgbClr val="B9C2D3"/>
              </a:solidFill>
              <a:latin typeface="Arial"/>
            </a:endParaRPr>
          </a:p>
          <a:p>
            <a:pPr algn="ctr"/>
            <a:endParaRPr lang="en-ZA" sz="3000" i="1" dirty="0">
              <a:solidFill>
                <a:srgbClr val="B9C2D3"/>
              </a:solidFill>
              <a:latin typeface="Arial"/>
            </a:endParaRPr>
          </a:p>
          <a:p>
            <a:pPr algn="ctr"/>
            <a:endParaRPr lang="en-ZA" sz="3000" b="0" i="1" dirty="0">
              <a:solidFill>
                <a:srgbClr val="B9C2D3"/>
              </a:solidFill>
              <a:latin typeface="Arial"/>
            </a:endParaRPr>
          </a:p>
          <a:p>
            <a:pPr algn="ctr"/>
            <a:endParaRPr sz="3000" b="0" i="1" dirty="0">
              <a:solidFill>
                <a:srgbClr val="B9C2D3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1856</Words>
  <Application>Microsoft Office PowerPoint</Application>
  <PresentationFormat>Custom</PresentationFormat>
  <Paragraphs>263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Modern Finance Presentation</dc:title>
  <dc:creator>Zano_xolo</dc:creator>
  <cp:lastModifiedBy>Aphelele Siphelele Gwebityala</cp:lastModifiedBy>
  <cp:revision>6</cp:revision>
  <dcterms:created xsi:type="dcterms:W3CDTF">2006-08-16T00:00:00Z</dcterms:created>
  <dcterms:modified xsi:type="dcterms:W3CDTF">2026-10-07T14:07:36Z</dcterms:modified>
  <dc:identifier>DAHWs8zkaHk</dc:identifier>
</cp:coreProperties>
</file>